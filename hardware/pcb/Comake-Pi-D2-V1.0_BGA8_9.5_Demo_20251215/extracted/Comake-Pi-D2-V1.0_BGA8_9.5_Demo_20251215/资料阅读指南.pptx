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498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27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4374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8065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7209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5926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41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9622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623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5626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276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303928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4939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4171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5952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0120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363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4F09C3F-A20E-4E74-9FB6-CD76B11D3F8B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A51F603-0CD1-4FA5-95E3-F69F624C69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9942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64122"/>
            <a:ext cx="28841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 smtClean="0">
                <a:solidFill>
                  <a:schemeClr val="bg1"/>
                </a:solidFill>
              </a:rPr>
              <a:t>启动方式选择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/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注意事项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03" y="845288"/>
            <a:ext cx="11887200" cy="2172233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26751" y="5189416"/>
            <a:ext cx="117984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M3:0</a:t>
            </a:r>
            <a:r>
              <a:rPr lang="zh-CN" altLang="en-US" dirty="0" smtClean="0"/>
              <a:t>的高低电平选择，决定了</a:t>
            </a:r>
            <a:r>
              <a:rPr lang="en-US" altLang="zh-CN" dirty="0" smtClean="0"/>
              <a:t>SOC</a:t>
            </a:r>
            <a:r>
              <a:rPr lang="zh-CN" altLang="en-US" dirty="0" smtClean="0"/>
              <a:t>是从哪种存储介质启动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启动方式没有选择</a:t>
            </a:r>
            <a:r>
              <a:rPr lang="en-US" altLang="zh-CN" dirty="0" smtClean="0"/>
              <a:t>SKIP SD</a:t>
            </a:r>
            <a:r>
              <a:rPr lang="zh-CN" altLang="en-US" dirty="0" smtClean="0"/>
              <a:t>，则任意</a:t>
            </a:r>
            <a:r>
              <a:rPr lang="zh-CN" altLang="en-US" dirty="0"/>
              <a:t>启动方式都可以从</a:t>
            </a:r>
            <a:r>
              <a:rPr lang="en-US" altLang="zh-CN" dirty="0"/>
              <a:t>SD</a:t>
            </a:r>
            <a:r>
              <a:rPr lang="zh-CN" altLang="en-US" dirty="0"/>
              <a:t>卡烧</a:t>
            </a:r>
            <a:r>
              <a:rPr lang="zh-CN" altLang="en-US" dirty="0" smtClean="0"/>
              <a:t>录，注意这里的</a:t>
            </a:r>
            <a:r>
              <a:rPr lang="en-US" altLang="zh-CN" dirty="0" smtClean="0"/>
              <a:t>SD</a:t>
            </a:r>
            <a:r>
              <a:rPr lang="zh-CN" altLang="en-US" dirty="0" smtClean="0"/>
              <a:t>要接在</a:t>
            </a:r>
            <a:r>
              <a:rPr lang="en-US" altLang="zh-CN" dirty="0" smtClean="0"/>
              <a:t>PAD_SD0,</a:t>
            </a:r>
            <a:r>
              <a:rPr lang="zh-CN" altLang="en-US" dirty="0" smtClean="0"/>
              <a:t>不能是任意</a:t>
            </a:r>
            <a:r>
              <a:rPr lang="en-US" altLang="zh-CN" dirty="0" smtClean="0"/>
              <a:t>SD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 smtClean="0"/>
              <a:t>没有选择</a:t>
            </a:r>
            <a:r>
              <a:rPr lang="en-US" altLang="zh-CN" dirty="0" smtClean="0"/>
              <a:t>SKIP SD</a:t>
            </a:r>
            <a:r>
              <a:rPr lang="zh-CN" altLang="en-US" dirty="0" smtClean="0"/>
              <a:t>启动比</a:t>
            </a:r>
            <a:r>
              <a:rPr lang="en-US" altLang="zh-CN" dirty="0" smtClean="0"/>
              <a:t>SKIP SD</a:t>
            </a:r>
            <a:r>
              <a:rPr lang="zh-CN" altLang="en-US" dirty="0" smtClean="0"/>
              <a:t>启动会多一些时间（</a:t>
            </a:r>
            <a:r>
              <a:rPr lang="en-US" altLang="zh-CN" dirty="0"/>
              <a:t>2</a:t>
            </a:r>
            <a:r>
              <a:rPr lang="en-US" altLang="zh-CN" dirty="0" smtClean="0"/>
              <a:t>00ms</a:t>
            </a:r>
            <a:r>
              <a:rPr lang="zh-CN" altLang="en-US" dirty="0" smtClean="0"/>
              <a:t>左右，实测为准）</a:t>
            </a:r>
            <a:endParaRPr lang="en-US" altLang="zh-CN" dirty="0" smtClean="0"/>
          </a:p>
          <a:p>
            <a:r>
              <a:rPr lang="en-US" altLang="zh-CN" dirty="0"/>
              <a:t>3</a:t>
            </a:r>
            <a:r>
              <a:rPr lang="en-US" altLang="zh-CN" dirty="0" smtClean="0"/>
              <a:t>.  </a:t>
            </a:r>
            <a:r>
              <a:rPr lang="zh-CN" altLang="en-US" dirty="0" smtClean="0"/>
              <a:t>任意启动方式都可以从</a:t>
            </a:r>
            <a:r>
              <a:rPr lang="en-US" altLang="zh-CN" dirty="0" smtClean="0"/>
              <a:t>USB</a:t>
            </a:r>
            <a:r>
              <a:rPr lang="zh-CN" altLang="en-US" dirty="0" smtClean="0"/>
              <a:t>升级</a:t>
            </a:r>
            <a:r>
              <a:rPr lang="en-US" altLang="zh-CN" dirty="0" smtClean="0"/>
              <a:t>/</a:t>
            </a:r>
            <a:r>
              <a:rPr lang="zh-CN" altLang="en-US" dirty="0" smtClean="0"/>
              <a:t>空片烧录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0" y="3144689"/>
            <a:ext cx="8084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/>
              <a:t>以选</a:t>
            </a:r>
            <a:r>
              <a:rPr lang="en-US" altLang="zh-CN" dirty="0" smtClean="0"/>
              <a:t>SPI Nor</a:t>
            </a:r>
            <a:r>
              <a:rPr lang="zh-CN" altLang="en-US" dirty="0"/>
              <a:t> </a:t>
            </a:r>
            <a:r>
              <a:rPr lang="en-US" altLang="zh-CN" dirty="0" smtClean="0"/>
              <a:t>SKIP SD</a:t>
            </a:r>
            <a:r>
              <a:rPr lang="zh-CN" altLang="en-US" dirty="0" smtClean="0"/>
              <a:t>启动为例</a:t>
            </a:r>
            <a:r>
              <a:rPr lang="zh-CN" altLang="en-US" dirty="0" smtClean="0"/>
              <a:t>：先选中</a:t>
            </a:r>
            <a:r>
              <a:rPr lang="zh-CN" altLang="en-US" dirty="0" smtClean="0"/>
              <a:t>对应行之后可以知道</a:t>
            </a:r>
            <a:r>
              <a:rPr lang="en-US" altLang="zh-CN" dirty="0" smtClean="0"/>
              <a:t>M3</a:t>
            </a:r>
            <a:r>
              <a:rPr lang="zh-CN" altLang="en-US" dirty="0" smtClean="0"/>
              <a:t>：</a:t>
            </a:r>
            <a:r>
              <a:rPr lang="en-US" altLang="zh-CN" dirty="0" smtClean="0"/>
              <a:t>0</a:t>
            </a:r>
            <a:r>
              <a:rPr lang="zh-CN" altLang="en-US" dirty="0" smtClean="0"/>
              <a:t>选为</a:t>
            </a:r>
            <a:r>
              <a:rPr lang="en-US" altLang="zh-CN" dirty="0" smtClean="0"/>
              <a:t>1111</a:t>
            </a:r>
            <a:endParaRPr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03" y="3439656"/>
            <a:ext cx="9557353" cy="174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420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0" y="164122"/>
            <a:ext cx="55980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HW Checklist 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阅读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-IO MAPPING/</a:t>
            </a:r>
            <a:r>
              <a:rPr lang="en-US" altLang="zh-CN" sz="2000" b="1" dirty="0" err="1" smtClean="0">
                <a:solidFill>
                  <a:schemeClr val="bg1"/>
                </a:solidFill>
              </a:rPr>
              <a:t>MISC_Table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819538"/>
            <a:ext cx="11440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●</a:t>
            </a:r>
            <a:r>
              <a:rPr lang="en-US" altLang="zh-CN" dirty="0" smtClean="0"/>
              <a:t>HW Checklist</a:t>
            </a:r>
            <a:r>
              <a:rPr lang="zh-CN" altLang="en-US" dirty="0" smtClean="0"/>
              <a:t>里面的</a:t>
            </a:r>
            <a:r>
              <a:rPr lang="en-US" altLang="zh-CN" dirty="0" smtClean="0"/>
              <a:t>IO Mapping</a:t>
            </a:r>
            <a:r>
              <a:rPr lang="zh-CN" altLang="en-US" dirty="0" smtClean="0"/>
              <a:t>本身为我司</a:t>
            </a:r>
            <a:r>
              <a:rPr lang="en-US" altLang="zh-CN" dirty="0" smtClean="0"/>
              <a:t>DEMO Board IO</a:t>
            </a:r>
            <a:r>
              <a:rPr lang="zh-CN" altLang="en-US" dirty="0" smtClean="0"/>
              <a:t>功能分配所制作的表格，方便快速核查</a:t>
            </a:r>
            <a:r>
              <a:rPr lang="en-US" altLang="zh-CN" dirty="0" smtClean="0"/>
              <a:t>DEMO</a:t>
            </a:r>
          </a:p>
          <a:p>
            <a:r>
              <a:rPr lang="en-US" altLang="zh-CN" dirty="0" smtClean="0"/>
              <a:t>   </a:t>
            </a:r>
            <a:r>
              <a:rPr lang="zh-CN" altLang="en-US" dirty="0" smtClean="0"/>
              <a:t>接口用法，简单罗列了所用</a:t>
            </a:r>
            <a:r>
              <a:rPr lang="en-US" altLang="zh-CN" dirty="0" smtClean="0"/>
              <a:t>IO</a:t>
            </a:r>
            <a:r>
              <a:rPr lang="zh-CN" altLang="en-US" dirty="0" smtClean="0"/>
              <a:t>的内部上下拉状态、复用功能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0" y="1465869"/>
            <a:ext cx="106298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>
                <a:solidFill>
                  <a:schemeClr val="bg1"/>
                </a:solidFill>
              </a:rPr>
              <a:t>●</a:t>
            </a:r>
            <a:r>
              <a:rPr lang="en-US" altLang="zh-CN" dirty="0" smtClean="0"/>
              <a:t>HW Checklist</a:t>
            </a:r>
            <a:r>
              <a:rPr lang="zh-CN" altLang="en-US" dirty="0" smtClean="0"/>
              <a:t>里面的</a:t>
            </a:r>
            <a:r>
              <a:rPr lang="en-US" altLang="zh-CN" dirty="0" err="1" smtClean="0"/>
              <a:t>MISC_Table</a:t>
            </a:r>
            <a:r>
              <a:rPr lang="zh-CN" altLang="en-US" dirty="0" smtClean="0"/>
              <a:t>为该</a:t>
            </a:r>
            <a:r>
              <a:rPr lang="en-US" altLang="zh-CN" dirty="0" smtClean="0"/>
              <a:t>IC</a:t>
            </a:r>
            <a:r>
              <a:rPr lang="zh-CN" altLang="en-US" dirty="0" smtClean="0"/>
              <a:t>所有</a:t>
            </a:r>
            <a:r>
              <a:rPr lang="en-US" altLang="zh-CN" dirty="0" smtClean="0"/>
              <a:t>IP</a:t>
            </a:r>
            <a:r>
              <a:rPr lang="zh-CN" altLang="en-US" dirty="0" smtClean="0"/>
              <a:t>的复用表，如下以</a:t>
            </a:r>
            <a:r>
              <a:rPr lang="en-US" altLang="zh-CN" dirty="0" smtClean="0"/>
              <a:t>I2C0</a:t>
            </a:r>
            <a:r>
              <a:rPr lang="zh-CN" altLang="en-US" dirty="0" smtClean="0"/>
              <a:t>复用为例：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先选中功能行，在功能行中搜索</a:t>
            </a:r>
            <a:r>
              <a:rPr lang="en-US" altLang="zh-CN" dirty="0" smtClean="0"/>
              <a:t>I2C</a:t>
            </a:r>
            <a:r>
              <a:rPr lang="zh-CN" altLang="en-US" dirty="0" smtClean="0"/>
              <a:t>，可以自动定位到如下位置，可以看到有</a:t>
            </a:r>
            <a:r>
              <a:rPr lang="en-US" altLang="zh-CN" dirty="0" smtClean="0"/>
              <a:t>I2C0/I2C1/I2C2</a:t>
            </a:r>
            <a:r>
              <a:rPr lang="zh-CN" altLang="en-US" dirty="0" smtClean="0"/>
              <a:t>三个</a:t>
            </a:r>
            <a:r>
              <a:rPr lang="en-US" altLang="zh-CN" dirty="0" smtClean="0"/>
              <a:t>IP</a:t>
            </a:r>
          </a:p>
          <a:p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451" y="2071403"/>
            <a:ext cx="10650811" cy="192825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0" y="4083269"/>
            <a:ext cx="715933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2. I2C0</a:t>
            </a:r>
            <a:r>
              <a:rPr lang="zh-CN" altLang="en-US" dirty="0" smtClean="0"/>
              <a:t>的不同</a:t>
            </a:r>
            <a:r>
              <a:rPr lang="en-US" altLang="zh-CN" dirty="0" smtClean="0"/>
              <a:t>mode</a:t>
            </a:r>
            <a:r>
              <a:rPr lang="zh-CN" altLang="en-US" dirty="0" smtClean="0"/>
              <a:t>代表复用在不同的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上面，这里以</a:t>
            </a:r>
            <a:r>
              <a:rPr lang="en-US" altLang="zh-CN" dirty="0" smtClean="0"/>
              <a:t>mode2</a:t>
            </a:r>
          </a:p>
          <a:p>
            <a:r>
              <a:rPr lang="zh-CN" altLang="en-US" dirty="0" smtClean="0"/>
              <a:t>为例，表示</a:t>
            </a:r>
            <a:r>
              <a:rPr lang="en-US" altLang="zh-CN" dirty="0" smtClean="0"/>
              <a:t>I2C0 </a:t>
            </a:r>
            <a:r>
              <a:rPr lang="zh-CN" altLang="en-US" dirty="0" smtClean="0"/>
              <a:t>想复用在</a:t>
            </a:r>
            <a:r>
              <a:rPr lang="en-US" altLang="zh-CN" dirty="0" smtClean="0"/>
              <a:t>PAD_GPIO0/1</a:t>
            </a:r>
            <a:r>
              <a:rPr lang="zh-CN" altLang="en-US" dirty="0" smtClean="0"/>
              <a:t>上面需要软件选为</a:t>
            </a:r>
            <a:r>
              <a:rPr lang="en-US" altLang="zh-CN" dirty="0" smtClean="0"/>
              <a:t>mode2</a:t>
            </a:r>
            <a:endParaRPr lang="en-US" altLang="zh-CN" dirty="0"/>
          </a:p>
          <a:p>
            <a:r>
              <a:rPr lang="zh-CN" altLang="en-US" dirty="0" smtClean="0"/>
              <a:t>，想复用在</a:t>
            </a:r>
            <a:r>
              <a:rPr lang="en-US" altLang="zh-CN" dirty="0" smtClean="0"/>
              <a:t>PAD_PM_GPIO0/1</a:t>
            </a:r>
            <a:r>
              <a:rPr lang="zh-CN" altLang="en-US" dirty="0" smtClean="0"/>
              <a:t>上面就选为</a:t>
            </a:r>
            <a:r>
              <a:rPr lang="en-US" altLang="zh-CN" dirty="0" smtClean="0"/>
              <a:t>mode3</a:t>
            </a:r>
          </a:p>
          <a:p>
            <a:r>
              <a:rPr lang="en-US" altLang="zh-CN" dirty="0" smtClean="0"/>
              <a:t>3. I2C0</a:t>
            </a:r>
            <a:r>
              <a:rPr lang="zh-CN" altLang="en-US" dirty="0" smtClean="0"/>
              <a:t>只能复用在表中有的</a:t>
            </a:r>
            <a:r>
              <a:rPr lang="en-US" altLang="zh-CN" dirty="0" smtClean="0"/>
              <a:t>mode</a:t>
            </a:r>
            <a:r>
              <a:rPr lang="zh-CN" altLang="en-US" dirty="0" smtClean="0"/>
              <a:t>对应的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上面，不能任意更改</a:t>
            </a:r>
            <a:endParaRPr lang="en-US" altLang="zh-CN" dirty="0" smtClean="0"/>
          </a:p>
          <a:p>
            <a:r>
              <a:rPr lang="en-US" altLang="zh-CN" dirty="0" smtClean="0"/>
              <a:t>4. </a:t>
            </a:r>
            <a:r>
              <a:rPr lang="zh-CN" altLang="en-US" dirty="0" smtClean="0"/>
              <a:t>如已经选择</a:t>
            </a:r>
            <a:r>
              <a:rPr lang="en-US" altLang="zh-CN" dirty="0" smtClean="0"/>
              <a:t>mode2</a:t>
            </a:r>
            <a:r>
              <a:rPr lang="zh-CN" altLang="en-US" dirty="0" smtClean="0"/>
              <a:t>复用在</a:t>
            </a:r>
            <a:r>
              <a:rPr lang="en-US" altLang="zh-CN" dirty="0" smtClean="0"/>
              <a:t>PAD_GPIO0/1</a:t>
            </a:r>
            <a:r>
              <a:rPr lang="zh-CN" altLang="en-US" dirty="0" smtClean="0"/>
              <a:t>上面，则其他</a:t>
            </a:r>
            <a:r>
              <a:rPr lang="en-US" altLang="zh-CN" dirty="0" smtClean="0"/>
              <a:t>mode</a:t>
            </a:r>
            <a:r>
              <a:rPr lang="zh-CN" altLang="en-US" dirty="0" smtClean="0"/>
              <a:t>也不</a:t>
            </a:r>
            <a:endParaRPr lang="en-US" altLang="zh-CN" dirty="0" smtClean="0"/>
          </a:p>
          <a:p>
            <a:r>
              <a:rPr lang="zh-CN" altLang="en-US" dirty="0" smtClean="0"/>
              <a:t>能使用了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2366" y="4250467"/>
            <a:ext cx="4722593" cy="1911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410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64122"/>
            <a:ext cx="425308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HW Checklist 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阅读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-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PM</a:t>
            </a:r>
            <a:r>
              <a:rPr lang="zh-CN" altLang="en-US" sz="2000" b="1" dirty="0">
                <a:solidFill>
                  <a:schemeClr val="bg1"/>
                </a:solidFill>
              </a:rPr>
              <a:t>与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NON-PM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6330" y="1074198"/>
            <a:ext cx="1143133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 smtClean="0"/>
              <a:t>在</a:t>
            </a:r>
            <a:r>
              <a:rPr lang="en-US" altLang="zh-CN" dirty="0" smtClean="0"/>
              <a:t>Checklist</a:t>
            </a:r>
            <a:r>
              <a:rPr lang="zh-CN" altLang="en-US" dirty="0" smtClean="0"/>
              <a:t>中的</a:t>
            </a:r>
            <a:r>
              <a:rPr lang="en-US" altLang="zh-CN" dirty="0" err="1" smtClean="0"/>
              <a:t>MISC_Table_PM_List</a:t>
            </a:r>
            <a:r>
              <a:rPr lang="en-US" altLang="zh-CN" dirty="0" smtClean="0"/>
              <a:t> </a:t>
            </a:r>
            <a:r>
              <a:rPr lang="zh-CN" altLang="en-US" dirty="0" smtClean="0"/>
              <a:t>与</a:t>
            </a:r>
            <a:r>
              <a:rPr lang="en-US" altLang="zh-CN" dirty="0" err="1" smtClean="0"/>
              <a:t>MISC_Table_PAD_list</a:t>
            </a:r>
            <a:r>
              <a:rPr lang="zh-CN" altLang="en-US" dirty="0" smtClean="0"/>
              <a:t>在没有单独使用</a:t>
            </a:r>
            <a:r>
              <a:rPr lang="en-US" altLang="zh-CN" dirty="0" smtClean="0"/>
              <a:t>CM4</a:t>
            </a:r>
            <a:r>
              <a:rPr lang="zh-CN" altLang="en-US" dirty="0" smtClean="0"/>
              <a:t>的情况下可以合并使用</a:t>
            </a:r>
            <a:endParaRPr lang="en-US" altLang="zh-CN" dirty="0" smtClean="0"/>
          </a:p>
          <a:p>
            <a:r>
              <a:rPr lang="zh-CN" altLang="en-US" dirty="0" smtClean="0"/>
              <a:t>带</a:t>
            </a:r>
            <a:r>
              <a:rPr lang="en-US" altLang="zh-CN" dirty="0" smtClean="0"/>
              <a:t>PM</a:t>
            </a:r>
            <a:r>
              <a:rPr lang="zh-CN" altLang="en-US" dirty="0" smtClean="0"/>
              <a:t>的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功能受</a:t>
            </a:r>
            <a:r>
              <a:rPr lang="en-US" altLang="zh-CN" dirty="0" smtClean="0"/>
              <a:t>CA32</a:t>
            </a:r>
            <a:r>
              <a:rPr lang="zh-CN" altLang="en-US" dirty="0" smtClean="0"/>
              <a:t>内核控制，不用特别区分功能差异</a:t>
            </a:r>
            <a:endParaRPr lang="en-US" altLang="zh-CN" dirty="0" smtClean="0"/>
          </a:p>
          <a:p>
            <a:r>
              <a:rPr lang="en-US" altLang="zh-CN" dirty="0" smtClean="0"/>
              <a:t>2. </a:t>
            </a:r>
            <a:r>
              <a:rPr lang="zh-CN" altLang="en-US" dirty="0" smtClean="0"/>
              <a:t>原理图或者规格书中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名字带</a:t>
            </a:r>
            <a:r>
              <a:rPr lang="en-US" altLang="zh-CN" dirty="0" smtClean="0"/>
              <a:t>PM</a:t>
            </a:r>
            <a:r>
              <a:rPr lang="zh-CN" altLang="en-US" dirty="0" smtClean="0"/>
              <a:t>字样的均属于</a:t>
            </a:r>
            <a:r>
              <a:rPr lang="en-US" altLang="zh-CN" dirty="0" smtClean="0"/>
              <a:t>CM4</a:t>
            </a:r>
            <a:r>
              <a:rPr lang="zh-CN" altLang="en-US" dirty="0" smtClean="0"/>
              <a:t>核的</a:t>
            </a:r>
            <a:r>
              <a:rPr lang="en-US" altLang="zh-CN" dirty="0" smtClean="0"/>
              <a:t>IO</a:t>
            </a:r>
            <a:r>
              <a:rPr lang="zh-CN" altLang="en-US" dirty="0" smtClean="0"/>
              <a:t>，可以被</a:t>
            </a:r>
            <a:r>
              <a:rPr lang="en-US" altLang="zh-CN" dirty="0" smtClean="0"/>
              <a:t>CA32</a:t>
            </a:r>
            <a:r>
              <a:rPr lang="zh-CN" altLang="en-US" dirty="0" smtClean="0"/>
              <a:t>控制，也可以</a:t>
            </a:r>
            <a:r>
              <a:rPr lang="en-US" altLang="zh-CN" dirty="0" smtClean="0"/>
              <a:t>CM4</a:t>
            </a:r>
            <a:r>
              <a:rPr lang="zh-CN" altLang="en-US" dirty="0" smtClean="0"/>
              <a:t>单独控制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40002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64122"/>
            <a:ext cx="51042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HW Checklist 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阅读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-</a:t>
            </a:r>
            <a:r>
              <a:rPr lang="en-US" altLang="zh-CN" sz="2000" b="1" dirty="0" err="1" smtClean="0">
                <a:solidFill>
                  <a:schemeClr val="bg1"/>
                </a:solidFill>
              </a:rPr>
              <a:t>GPIO_Ctrl_Reg_Table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0819" y="1047565"/>
            <a:ext cx="8754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</a:t>
            </a:r>
            <a:r>
              <a:rPr lang="en-US" altLang="zh-CN" dirty="0" err="1" smtClean="0"/>
              <a:t>GPIO_Ctrl_Reg_Table</a:t>
            </a:r>
            <a:r>
              <a:rPr lang="en-US" altLang="zh-CN" dirty="0" smtClean="0"/>
              <a:t> </a:t>
            </a:r>
            <a:r>
              <a:rPr lang="zh-CN" altLang="en-US" dirty="0" smtClean="0"/>
              <a:t>包含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默认内部上下拉，驱动电流大小调整方式等内容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819" y="2443486"/>
            <a:ext cx="9144000" cy="10477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0819" y="1797155"/>
            <a:ext cx="11618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●Reset Value</a:t>
            </a:r>
            <a:r>
              <a:rPr lang="zh-CN" altLang="en-US" dirty="0" smtClean="0"/>
              <a:t>即为</a:t>
            </a:r>
            <a:r>
              <a:rPr lang="en-US" altLang="zh-CN" dirty="0" smtClean="0"/>
              <a:t>SOC</a:t>
            </a:r>
            <a:r>
              <a:rPr lang="zh-CN" altLang="en-US" dirty="0" smtClean="0"/>
              <a:t>上电完成后，软件还没起来时刻</a:t>
            </a:r>
            <a:r>
              <a:rPr lang="en-US" altLang="zh-CN" dirty="0" smtClean="0"/>
              <a:t>IO</a:t>
            </a:r>
            <a:r>
              <a:rPr lang="zh-CN" altLang="en-US" dirty="0" smtClean="0"/>
              <a:t>的默认状态，下图表示该</a:t>
            </a:r>
            <a:r>
              <a:rPr lang="en-US" altLang="zh-CN" dirty="0" smtClean="0"/>
              <a:t>PAD_I2C1_SDA </a:t>
            </a:r>
            <a:r>
              <a:rPr lang="zh-CN" altLang="en-US" dirty="0" smtClean="0"/>
              <a:t>默认是输入</a:t>
            </a:r>
            <a:endParaRPr lang="en-US" altLang="zh-CN" dirty="0" smtClean="0"/>
          </a:p>
          <a:p>
            <a:r>
              <a:rPr lang="zh-CN" altLang="en-US" dirty="0" smtClean="0"/>
              <a:t>内部有上拉电阻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19" y="4543292"/>
            <a:ext cx="5672831" cy="12192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230819" y="3641324"/>
            <a:ext cx="119298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●Internal pull up/down resister</a:t>
            </a:r>
            <a:r>
              <a:rPr lang="zh-CN" altLang="en-US" dirty="0" smtClean="0"/>
              <a:t>显示内部上下拉电阻值大小，精度一般在</a:t>
            </a:r>
            <a:r>
              <a:rPr lang="en-US" altLang="zh-CN" dirty="0" smtClean="0"/>
              <a:t>±30%</a:t>
            </a:r>
            <a:r>
              <a:rPr lang="zh-CN" altLang="en-US" dirty="0" smtClean="0"/>
              <a:t>，下图表示</a:t>
            </a:r>
            <a:r>
              <a:rPr lang="en-US" altLang="zh-CN" dirty="0" smtClean="0"/>
              <a:t>Pad_I2C1_SDA</a:t>
            </a:r>
            <a:r>
              <a:rPr lang="zh-CN" altLang="en-US" dirty="0" smtClean="0"/>
              <a:t>的内部</a:t>
            </a:r>
            <a:endParaRPr lang="en-US" altLang="zh-CN" dirty="0" smtClean="0"/>
          </a:p>
          <a:p>
            <a:r>
              <a:rPr lang="zh-CN" altLang="en-US" dirty="0"/>
              <a:t>上</a:t>
            </a:r>
            <a:r>
              <a:rPr lang="zh-CN" altLang="en-US" dirty="0" smtClean="0"/>
              <a:t>拉电阻为</a:t>
            </a:r>
            <a:r>
              <a:rPr lang="en-US" altLang="zh-CN" dirty="0" smtClean="0"/>
              <a:t>97KΩ</a:t>
            </a:r>
            <a:r>
              <a:rPr lang="zh-CN" altLang="en-US" dirty="0" smtClean="0"/>
              <a:t>（典型值），</a:t>
            </a:r>
            <a:r>
              <a:rPr lang="en-US" altLang="zh-CN" dirty="0" smtClean="0"/>
              <a:t>PE/PS</a:t>
            </a:r>
            <a:r>
              <a:rPr lang="zh-CN" altLang="en-US" dirty="0" smtClean="0"/>
              <a:t>表示软件设置上下拉的寄存器位置，例如这里的</a:t>
            </a:r>
            <a:r>
              <a:rPr lang="en-US" altLang="zh-CN" dirty="0" smtClean="0"/>
              <a:t>PE PS</a:t>
            </a:r>
            <a:r>
              <a:rPr lang="zh-CN" altLang="en-US" dirty="0" smtClean="0"/>
              <a:t>默认都是</a:t>
            </a:r>
            <a:r>
              <a:rPr lang="en-US" altLang="zh-CN" dirty="0" smtClean="0"/>
              <a:t>1</a:t>
            </a:r>
            <a:r>
              <a:rPr lang="zh-CN" altLang="en-US" dirty="0" smtClean="0"/>
              <a:t>，</a:t>
            </a:r>
            <a:r>
              <a:rPr lang="en-US" altLang="zh-CN" dirty="0" smtClean="0"/>
              <a:t>PS</a:t>
            </a:r>
            <a:r>
              <a:rPr lang="zh-CN" altLang="en-US" dirty="0" smtClean="0"/>
              <a:t>改为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则变</a:t>
            </a:r>
            <a:endParaRPr lang="en-US" altLang="zh-CN" dirty="0" smtClean="0"/>
          </a:p>
          <a:p>
            <a:r>
              <a:rPr lang="zh-CN" altLang="en-US" dirty="0" smtClean="0"/>
              <a:t>为下拉状态，阻值为</a:t>
            </a:r>
            <a:r>
              <a:rPr lang="en-US" altLang="zh-CN" dirty="0" smtClean="0"/>
              <a:t>96KΩ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650" y="4567960"/>
            <a:ext cx="5264135" cy="116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70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64122"/>
            <a:ext cx="510428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HW Checklist 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阅读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-</a:t>
            </a:r>
            <a:r>
              <a:rPr lang="en-US" altLang="zh-CN" sz="2000" b="1" dirty="0" err="1" smtClean="0">
                <a:solidFill>
                  <a:schemeClr val="bg1"/>
                </a:solidFill>
              </a:rPr>
              <a:t>GPIO_Ctrl_Reg_Table</a:t>
            </a:r>
            <a:endParaRPr lang="en-US" altLang="zh-CN" sz="2000" b="1" dirty="0" smtClean="0">
              <a:solidFill>
                <a:schemeClr val="bg1"/>
              </a:solidFill>
            </a:endParaRPr>
          </a:p>
          <a:p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0819" y="1047565"/>
            <a:ext cx="1065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●DRV</a:t>
            </a:r>
            <a:r>
              <a:rPr lang="zh-CN" altLang="en-US" dirty="0" smtClean="0"/>
              <a:t>表示该</a:t>
            </a:r>
            <a:r>
              <a:rPr lang="en-US" altLang="zh-CN" dirty="0" smtClean="0"/>
              <a:t>PAD_I2C1_SDA</a:t>
            </a:r>
            <a:r>
              <a:rPr lang="zh-CN" altLang="en-US" dirty="0" smtClean="0"/>
              <a:t>的驱动电流挡位以及对应寄存器位置为</a:t>
            </a:r>
            <a:r>
              <a:rPr lang="en-US" altLang="zh-CN" dirty="0" smtClean="0"/>
              <a:t>bank103e 00 bit7/  01 </a:t>
            </a:r>
            <a:r>
              <a:rPr lang="zh-CN" altLang="en-US" dirty="0" smtClean="0"/>
              <a:t>的</a:t>
            </a:r>
            <a:r>
              <a:rPr lang="en-US" altLang="zh-CN" dirty="0" smtClean="0"/>
              <a:t>bit8</a:t>
            </a:r>
            <a:r>
              <a:rPr lang="zh-CN" altLang="en-US" dirty="0" smtClean="0"/>
              <a:t>位置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408" y="1416897"/>
            <a:ext cx="5119548" cy="10921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0819" y="2693733"/>
            <a:ext cx="120869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</a:t>
            </a:r>
            <a:r>
              <a:rPr lang="zh-CN" altLang="en-US" dirty="0" smtClean="0"/>
              <a:t>这里详细介绍一下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的输入输出设定方法：所有输入默认电平都由内部和外部上下拉状态决定，输出为推挽方式</a:t>
            </a:r>
            <a:endParaRPr lang="en-US" altLang="zh-CN" dirty="0" smtClean="0"/>
          </a:p>
          <a:p>
            <a:r>
              <a:rPr lang="en-US" altLang="zh-CN" dirty="0" smtClean="0"/>
              <a:t>    </a:t>
            </a:r>
            <a:r>
              <a:rPr lang="zh-CN" altLang="en-US" dirty="0" smtClean="0"/>
              <a:t>可以理解为与上下拉关系不大，为强输出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08" y="3482828"/>
            <a:ext cx="5634918" cy="1134072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30818" y="4848687"/>
            <a:ext cx="1228894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●bank103e 00  bit2</a:t>
            </a:r>
            <a:r>
              <a:rPr lang="zh-CN" altLang="en-US" dirty="0" smtClean="0"/>
              <a:t>位置为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表示该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为输出状态，此时看</a:t>
            </a:r>
            <a:r>
              <a:rPr lang="en-US" altLang="zh-CN" dirty="0" smtClean="0"/>
              <a:t>OUT</a:t>
            </a:r>
            <a:r>
              <a:rPr lang="zh-CN" altLang="en-US" dirty="0" smtClean="0"/>
              <a:t>位置的</a:t>
            </a:r>
            <a:r>
              <a:rPr lang="en-US" altLang="zh-CN" dirty="0" smtClean="0"/>
              <a:t>bank103e 00 bit1</a:t>
            </a:r>
            <a:r>
              <a:rPr lang="zh-CN" altLang="en-US" dirty="0" smtClean="0"/>
              <a:t>，设为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则输出高，设为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0</a:t>
            </a:r>
            <a:r>
              <a:rPr lang="zh-CN" altLang="en-US" dirty="0" smtClean="0"/>
              <a:t>则输出低电平；如</a:t>
            </a:r>
            <a:r>
              <a:rPr lang="en-US" altLang="zh-CN" dirty="0" smtClean="0"/>
              <a:t>00 bit2</a:t>
            </a:r>
            <a:r>
              <a:rPr lang="zh-CN" altLang="en-US" dirty="0" smtClean="0"/>
              <a:t>为</a:t>
            </a:r>
            <a:r>
              <a:rPr lang="en-US" altLang="zh-CN" dirty="0" smtClean="0"/>
              <a:t>1</a:t>
            </a:r>
            <a:r>
              <a:rPr lang="zh-CN" altLang="en-US" dirty="0" smtClean="0"/>
              <a:t>则该</a:t>
            </a:r>
            <a:r>
              <a:rPr lang="en-US" altLang="zh-CN" dirty="0" smtClean="0"/>
              <a:t>GPIO</a:t>
            </a:r>
            <a:r>
              <a:rPr lang="zh-CN" altLang="en-US" dirty="0" smtClean="0"/>
              <a:t>为输入状态，读取</a:t>
            </a:r>
            <a:r>
              <a:rPr lang="en-US" altLang="zh-CN" dirty="0" smtClean="0"/>
              <a:t>IN</a:t>
            </a:r>
            <a:r>
              <a:rPr lang="zh-CN" altLang="en-US" dirty="0" smtClean="0"/>
              <a:t>下面的 </a:t>
            </a:r>
            <a:r>
              <a:rPr lang="en-US" altLang="zh-CN" dirty="0" smtClean="0"/>
              <a:t>bank103e 00 bit0</a:t>
            </a:r>
            <a:r>
              <a:rPr lang="zh-CN" altLang="en-US" dirty="0" smtClean="0"/>
              <a:t>状态可以确认外部电平状态，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此时如果引脚悬空，读取的状态为内部上下拉电阻状态决定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62527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64122"/>
            <a:ext cx="39741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HW Checklist 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阅读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-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MIPI_RX_VIF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0819" y="1047565"/>
            <a:ext cx="8323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●MIPI RX_VIF </a:t>
            </a:r>
            <a:r>
              <a:rPr lang="zh-CN" altLang="en-US" dirty="0" smtClean="0"/>
              <a:t>为</a:t>
            </a:r>
            <a:r>
              <a:rPr lang="en-US" altLang="zh-CN" dirty="0" smtClean="0"/>
              <a:t>SOC</a:t>
            </a:r>
            <a:r>
              <a:rPr lang="zh-CN" altLang="en-US" dirty="0" smtClean="0"/>
              <a:t>默认的</a:t>
            </a:r>
            <a:r>
              <a:rPr lang="en-US" altLang="zh-CN" dirty="0" smtClean="0"/>
              <a:t>MIPI</a:t>
            </a:r>
            <a:r>
              <a:rPr lang="zh-CN" altLang="en-US" dirty="0" smtClean="0"/>
              <a:t>线序，建议使用默认推荐线序，方便软件调试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21" y="1581707"/>
            <a:ext cx="7340908" cy="319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8657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0" y="173000"/>
            <a:ext cx="39356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 smtClean="0">
                <a:solidFill>
                  <a:schemeClr val="bg1"/>
                </a:solidFill>
              </a:rPr>
              <a:t>D2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底板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改为</a:t>
            </a:r>
            <a:r>
              <a:rPr lang="en-US" altLang="zh-CN" sz="2000" b="1" dirty="0" smtClean="0">
                <a:solidFill>
                  <a:schemeClr val="bg1"/>
                </a:solidFill>
              </a:rPr>
              <a:t>MIPI2+2 rework</a:t>
            </a:r>
            <a:r>
              <a:rPr lang="zh-CN" altLang="en-US" sz="2000" b="1" dirty="0" smtClean="0">
                <a:solidFill>
                  <a:schemeClr val="bg1"/>
                </a:solidFill>
              </a:rPr>
              <a:t>方式</a:t>
            </a:r>
            <a:endParaRPr lang="zh-CN" altLang="en-US" sz="2000" b="1" dirty="0">
              <a:solidFill>
                <a:schemeClr val="bg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9898" y="807868"/>
            <a:ext cx="3514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</a:t>
            </a:r>
            <a:r>
              <a:rPr lang="zh-CN" altLang="en-US" dirty="0" smtClean="0"/>
              <a:t>参考</a:t>
            </a:r>
            <a:r>
              <a:rPr lang="en-US" altLang="zh-CN" dirty="0" smtClean="0"/>
              <a:t>Pi D2 </a:t>
            </a:r>
            <a:r>
              <a:rPr lang="zh-CN" altLang="en-US" dirty="0" smtClean="0"/>
              <a:t>硬件说明</a:t>
            </a:r>
            <a:r>
              <a:rPr lang="en-US" altLang="zh-CN" dirty="0" smtClean="0"/>
              <a:t>3.1.15</a:t>
            </a:r>
            <a:r>
              <a:rPr lang="zh-CN" altLang="en-US" dirty="0" smtClean="0"/>
              <a:t>章节</a:t>
            </a:r>
            <a:endParaRPr lang="en-US" altLang="zh-CN" dirty="0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20" y="1256676"/>
            <a:ext cx="3915051" cy="24714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20" y="4411700"/>
            <a:ext cx="3571552" cy="237092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9898" y="3901241"/>
            <a:ext cx="19255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●Rework</a:t>
            </a:r>
            <a:r>
              <a:rPr lang="zh-CN" altLang="en-US" dirty="0" smtClean="0"/>
              <a:t>完效果</a:t>
            </a:r>
            <a:endParaRPr lang="en-US" altLang="zh-CN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5771" y="4411701"/>
            <a:ext cx="3779014" cy="2370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032397"/>
      </p:ext>
    </p:extLst>
  </p:cSld>
  <p:clrMapOvr>
    <a:masterClrMapping/>
  </p:clrMapOvr>
</p:sld>
</file>

<file path=ppt/theme/theme1.xml><?xml version="1.0" encoding="utf-8"?>
<a:theme xmlns:a="http://schemas.openxmlformats.org/drawingml/2006/main" name="切片">
  <a:themeElements>
    <a:clrScheme name="切片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切片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切片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2100</TotalTime>
  <Words>675</Words>
  <Application>Microsoft Office PowerPoint</Application>
  <PresentationFormat>宽屏</PresentationFormat>
  <Paragraphs>40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幼圆</vt:lpstr>
      <vt:lpstr>Century Gothic</vt:lpstr>
      <vt:lpstr>Wingdings 3</vt:lpstr>
      <vt:lpstr>切片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SigmaStar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yuchen.qian(钱超)</dc:creator>
  <cp:lastModifiedBy>yuchen.qian(钱超)</cp:lastModifiedBy>
  <cp:revision>14</cp:revision>
  <dcterms:created xsi:type="dcterms:W3CDTF">2025-12-11T08:08:30Z</dcterms:created>
  <dcterms:modified xsi:type="dcterms:W3CDTF">2025-12-15T13:10:56Z</dcterms:modified>
</cp:coreProperties>
</file>